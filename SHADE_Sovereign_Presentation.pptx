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950" b="1">
                <a:solidFill>
                  <a:srgbClr val="1D4ED8"/>
                </a:solidFill>
                <a:latin typeface="Arial"/>
              </a:defRPr>
            </a:pPr>
            <a:r>
              <a:t>PROJECT S.H.A.D.E. | ACADEMIC &amp; HACKATHON PROPOSAL</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100" b="1">
                <a:solidFill>
                  <a:srgbClr val="0F172A"/>
                </a:solidFill>
                <a:latin typeface="Arial"/>
              </a:defRPr>
            </a:pPr>
            <a:r>
              <a:t>1. Executive Summary &amp; Problem Statement</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10728655" cy="201168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10180015" cy="1737360"/>
          </a:xfrm>
          <a:prstGeom prst="rect">
            <a:avLst/>
          </a:prstGeom>
          <a:noFill/>
        </p:spPr>
        <p:txBody>
          <a:bodyPr wrap="square">
            <a:spAutoFit/>
          </a:bodyPr>
          <a:lstStyle/>
          <a:p>
            <a:pPr>
              <a:spcAft>
                <a:spcPts val="400"/>
              </a:spcAft>
              <a:defRPr sz="1100" b="1">
                <a:solidFill>
                  <a:srgbClr val="1D4ED8"/>
                </a:solidFill>
                <a:latin typeface="Arial"/>
              </a:defRPr>
            </a:pPr>
            <a:r>
              <a:t>S.H.A.D.E. — SOVEREIGN HOST FOR AI DATA ENFORCEMENT</a:t>
            </a:r>
          </a:p>
          <a:p>
            <a:pPr>
              <a:spcBef>
                <a:spcPts val="400"/>
              </a:spcBef>
              <a:defRPr sz="1250" i="1">
                <a:solidFill>
                  <a:srgbClr val="0F172A"/>
                </a:solidFill>
                <a:latin typeface="Arial"/>
              </a:defRPr>
            </a:pPr>
            <a:r>
              <a:t>"In the era of cloud AI, knowledge workers and developers continuously leak confidential credentials and Indian PII (Aadhaar, PAN, API keys) into third-party LLMs and cloud servers through unmonitored prompt exfiltration. Concurrently, commercial brokers aggregate exposed identity records without transparency. While India's DPDP Act 2023 grants statutory rights to data erasure, users lack automated tooling to intercept prompt leaks in-flight or formulate verifiable statutory takedowns."</a:t>
            </a:r>
          </a:p>
        </p:txBody>
      </p:sp>
      <p:sp>
        <p:nvSpPr>
          <p:cNvPr id="7" name="Rounded Rectangle 6"/>
          <p:cNvSpPr/>
          <p:nvPr/>
        </p:nvSpPr>
        <p:spPr>
          <a:xfrm>
            <a:off x="731520" y="3611880"/>
            <a:ext cx="3429000" cy="274320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749040"/>
            <a:ext cx="3154680" cy="2468880"/>
          </a:xfrm>
          <a:prstGeom prst="rect">
            <a:avLst/>
          </a:prstGeom>
          <a:noFill/>
        </p:spPr>
        <p:txBody>
          <a:bodyPr wrap="square">
            <a:spAutoFit/>
          </a:bodyPr>
          <a:lstStyle/>
          <a:p>
            <a:pPr>
              <a:spcAft>
                <a:spcPts val="800"/>
              </a:spcAft>
              <a:defRPr sz="1250" b="1">
                <a:solidFill>
                  <a:srgbClr val="DC2626"/>
                </a:solidFill>
                <a:latin typeface="Arial"/>
              </a:defRPr>
            </a:pPr>
            <a:r>
              <a:t>1. Shadow AI Prompt Exfiltration</a:t>
            </a:r>
          </a:p>
          <a:p>
            <a:pPr>
              <a:spcAft>
                <a:spcPts val="500"/>
              </a:spcAft>
              <a:defRPr sz="1000">
                <a:solidFill>
                  <a:srgbClr val="475569"/>
                </a:solidFill>
                <a:latin typeface="Arial"/>
              </a:defRPr>
            </a:pPr>
            <a:r>
              <a:t>• Knowledge workers copy-paste real Aadhaar, PAN, &amp; API keys into AI prompts.</a:t>
            </a:r>
          </a:p>
          <a:p>
            <a:pPr>
              <a:spcAft>
                <a:spcPts val="500"/>
              </a:spcAft>
              <a:defRPr sz="1000">
                <a:solidFill>
                  <a:srgbClr val="475569"/>
                </a:solidFill>
                <a:latin typeface="Arial"/>
              </a:defRPr>
            </a:pPr>
            <a:r>
              <a:t>• Confidential client data &amp; source code permanently logged on third-party cloud servers.</a:t>
            </a:r>
          </a:p>
          <a:p>
            <a:pPr>
              <a:spcAft>
                <a:spcPts val="500"/>
              </a:spcAft>
              <a:defRPr sz="1000">
                <a:solidFill>
                  <a:srgbClr val="475569"/>
                </a:solidFill>
                <a:latin typeface="Arial"/>
              </a:defRPr>
            </a:pPr>
            <a:r>
              <a:t>• Traditional antivirus is blind to human-generated prompt text.</a:t>
            </a:r>
          </a:p>
        </p:txBody>
      </p:sp>
      <p:sp>
        <p:nvSpPr>
          <p:cNvPr id="9" name="Rounded Rectangle 8"/>
          <p:cNvSpPr/>
          <p:nvPr/>
        </p:nvSpPr>
        <p:spPr>
          <a:xfrm>
            <a:off x="4379976" y="3611880"/>
            <a:ext cx="3429000" cy="274320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3749040"/>
            <a:ext cx="3154680" cy="2468880"/>
          </a:xfrm>
          <a:prstGeom prst="rect">
            <a:avLst/>
          </a:prstGeom>
          <a:noFill/>
        </p:spPr>
        <p:txBody>
          <a:bodyPr wrap="square">
            <a:spAutoFit/>
          </a:bodyPr>
          <a:lstStyle/>
          <a:p>
            <a:pPr>
              <a:spcAft>
                <a:spcPts val="800"/>
              </a:spcAft>
              <a:defRPr sz="1250" b="1">
                <a:solidFill>
                  <a:srgbClr val="D97706"/>
                </a:solidFill>
                <a:latin typeface="Arial"/>
              </a:defRPr>
            </a:pPr>
            <a:r>
              <a:t>2. Unchecked Identity Sprawl</a:t>
            </a:r>
          </a:p>
          <a:p>
            <a:pPr>
              <a:spcAft>
                <a:spcPts val="500"/>
              </a:spcAft>
              <a:defRPr sz="1000">
                <a:solidFill>
                  <a:srgbClr val="475569"/>
                </a:solidFill>
                <a:latin typeface="Arial"/>
              </a:defRPr>
            </a:pPr>
            <a:r>
              <a:t>• Historical database breaches expose old passwords, emails, and phone numbers.</a:t>
            </a:r>
          </a:p>
          <a:p>
            <a:pPr>
              <a:spcAft>
                <a:spcPts val="500"/>
              </a:spcAft>
              <a:defRPr sz="1000">
                <a:solidFill>
                  <a:srgbClr val="475569"/>
                </a:solidFill>
                <a:latin typeface="Arial"/>
              </a:defRPr>
            </a:pPr>
            <a:r>
              <a:t>• Users have dozens of dormant 'zombie accounts' vulnerable to credential stuffing.</a:t>
            </a:r>
          </a:p>
          <a:p>
            <a:pPr>
              <a:spcAft>
                <a:spcPts val="500"/>
              </a:spcAft>
              <a:defRPr sz="1000">
                <a:solidFill>
                  <a:srgbClr val="475569"/>
                </a:solidFill>
                <a:latin typeface="Arial"/>
              </a:defRPr>
            </a:pPr>
            <a:r>
              <a:t>• Zero unified visibility into where personal metadata is currently circulating.</a:t>
            </a:r>
          </a:p>
        </p:txBody>
      </p:sp>
      <p:sp>
        <p:nvSpPr>
          <p:cNvPr id="11" name="Rounded Rectangle 10"/>
          <p:cNvSpPr/>
          <p:nvPr/>
        </p:nvSpPr>
        <p:spPr>
          <a:xfrm>
            <a:off x="8028432" y="3611880"/>
            <a:ext cx="3429000" cy="274320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65592" y="3749040"/>
            <a:ext cx="3154680" cy="2468880"/>
          </a:xfrm>
          <a:prstGeom prst="rect">
            <a:avLst/>
          </a:prstGeom>
          <a:noFill/>
        </p:spPr>
        <p:txBody>
          <a:bodyPr wrap="square">
            <a:spAutoFit/>
          </a:bodyPr>
          <a:lstStyle/>
          <a:p>
            <a:pPr>
              <a:spcAft>
                <a:spcPts val="800"/>
              </a:spcAft>
              <a:defRPr sz="1250" b="1">
                <a:solidFill>
                  <a:srgbClr val="059669"/>
                </a:solidFill>
                <a:latin typeface="Arial"/>
              </a:defRPr>
            </a:pPr>
            <a:r>
              <a:t>3. The DPDP Enforcement Gap</a:t>
            </a:r>
          </a:p>
          <a:p>
            <a:pPr>
              <a:spcAft>
                <a:spcPts val="500"/>
              </a:spcAft>
              <a:defRPr sz="1000">
                <a:solidFill>
                  <a:srgbClr val="475569"/>
                </a:solidFill>
                <a:latin typeface="Arial"/>
              </a:defRPr>
            </a:pPr>
            <a:r>
              <a:t>• India's DPDP Act 2023 grants statutory Right to Erasure (Section 12).</a:t>
            </a:r>
          </a:p>
          <a:p>
            <a:pPr>
              <a:spcAft>
                <a:spcPts val="500"/>
              </a:spcAft>
              <a:defRPr sz="1000">
                <a:solidFill>
                  <a:srgbClr val="475569"/>
                </a:solidFill>
                <a:latin typeface="Arial"/>
              </a:defRPr>
            </a:pPr>
            <a:r>
              <a:t>• Non-compliance with security safeguards carries fines up to Rs.250 Crore.</a:t>
            </a:r>
          </a:p>
          <a:p>
            <a:pPr>
              <a:spcAft>
                <a:spcPts val="500"/>
              </a:spcAft>
              <a:defRPr sz="1000">
                <a:solidFill>
                  <a:srgbClr val="475569"/>
                </a:solidFill>
                <a:latin typeface="Arial"/>
              </a:defRPr>
            </a:pPr>
            <a:r>
              <a:t>• Citizens lack automated legal tools to draft and serve verified takedown requisitions.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950" b="1">
                <a:solidFill>
                  <a:srgbClr val="1D4ED8"/>
                </a:solidFill>
                <a:latin typeface="Arial"/>
              </a:defRPr>
            </a:pPr>
            <a:r>
              <a:t>PROJECT S.H.A.D.E. | ACADEMIC &amp; HACKATHON PROPOSAL</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100" b="1">
                <a:solidFill>
                  <a:srgbClr val="0F172A"/>
                </a:solidFill>
                <a:latin typeface="Arial"/>
              </a:defRPr>
            </a:pPr>
            <a:r>
              <a:t>2. Glimpse of the Solution — The Sovereign AI Gateway</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10728655" cy="1280160"/>
          </a:xfrm>
          <a:prstGeom prst="roundRect">
            <a:avLst/>
          </a:prstGeom>
          <a:solidFill>
            <a:srgbClr val="F1F5F9"/>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62895" cy="1097280"/>
          </a:xfrm>
          <a:prstGeom prst="rect">
            <a:avLst/>
          </a:prstGeom>
          <a:noFill/>
        </p:spPr>
        <p:txBody>
          <a:bodyPr wrap="square">
            <a:spAutoFit/>
          </a:bodyPr>
          <a:lstStyle/>
          <a:p>
            <a:pPr>
              <a:spcAft>
                <a:spcPts val="400"/>
              </a:spcAft>
              <a:defRPr sz="1100" b="1">
                <a:solidFill>
                  <a:srgbClr val="1D4ED8"/>
                </a:solidFill>
                <a:latin typeface="Arial"/>
              </a:defRPr>
            </a:pPr>
            <a:r>
              <a:t>THE PARADIGM SHIFT: AN ON-DEVICE SOVEREIGN AI PRIVACY HYPERVISOR</a:t>
            </a:r>
          </a:p>
          <a:p>
            <a:pPr>
              <a:defRPr sz="1100">
                <a:solidFill>
                  <a:srgbClr val="0F172A"/>
                </a:solidFill>
                <a:latin typeface="Arial"/>
              </a:defRPr>
            </a:pPr>
            <a:r>
              <a:t>S.H.A.D.E. is a Local AI Privacy Gateway and Sentinel running natively on the user's host machine. It acts as a secure local airlock: AI-bound prompts from IDEs, developer scripts, and desktop tools are sanitized in-flight using mathematical Verhoeff checksums and context rules, swapping Indian PII with synthetic decoys before cloud transmission, and seamlessly re-hydrating responses locally.</a:t>
            </a:r>
          </a:p>
        </p:txBody>
      </p:sp>
      <p:sp>
        <p:nvSpPr>
          <p:cNvPr id="7" name="Rounded Rectangle 6"/>
          <p:cNvSpPr/>
          <p:nvPr/>
        </p:nvSpPr>
        <p:spPr>
          <a:xfrm>
            <a:off x="731520" y="2880360"/>
            <a:ext cx="2468880" cy="34747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3017520"/>
            <a:ext cx="2249424" cy="3200400"/>
          </a:xfrm>
          <a:prstGeom prst="rect">
            <a:avLst/>
          </a:prstGeom>
          <a:noFill/>
        </p:spPr>
        <p:txBody>
          <a:bodyPr wrap="square">
            <a:spAutoFit/>
          </a:bodyPr>
          <a:lstStyle/>
          <a:p>
            <a:pPr>
              <a:spcAft>
                <a:spcPts val="1000"/>
              </a:spcAft>
              <a:defRPr sz="1150" b="1">
                <a:solidFill>
                  <a:srgbClr val="DC2626"/>
                </a:solidFill>
                <a:latin typeface="Arial"/>
              </a:defRPr>
            </a:pPr>
            <a:r>
              <a:t>1. Local AI Airlock</a:t>
            </a:r>
          </a:p>
          <a:p>
            <a:pPr>
              <a:spcAft>
                <a:spcPts val="500"/>
              </a:spcAft>
              <a:defRPr sz="950">
                <a:solidFill>
                  <a:srgbClr val="475569"/>
                </a:solidFill>
                <a:latin typeface="Arial"/>
              </a:defRPr>
            </a:pPr>
            <a:r>
              <a:t>• Apps, IDEs, and tools route AI requests to local proxy: 127.0.0.1:8000.</a:t>
            </a:r>
          </a:p>
          <a:p>
            <a:pPr>
              <a:spcAft>
                <a:spcPts val="500"/>
              </a:spcAft>
              <a:defRPr sz="950">
                <a:solidFill>
                  <a:srgbClr val="475569"/>
                </a:solidFill>
                <a:latin typeface="Arial"/>
              </a:defRPr>
            </a:pPr>
            <a:r>
              <a:t>• Clipboard Sentinel provides context-aware floating HUD.</a:t>
            </a:r>
          </a:p>
          <a:p>
            <a:pPr>
              <a:spcAft>
                <a:spcPts val="500"/>
              </a:spcAft>
              <a:defRPr sz="950">
                <a:solidFill>
                  <a:srgbClr val="475569"/>
                </a:solidFill>
                <a:latin typeface="Arial"/>
              </a:defRPr>
            </a:pPr>
            <a:r>
              <a:t>• Legitimate banking/KYC copy-paste is never blocked.</a:t>
            </a:r>
          </a:p>
        </p:txBody>
      </p:sp>
      <p:sp>
        <p:nvSpPr>
          <p:cNvPr id="9" name="Rounded Rectangle 8"/>
          <p:cNvSpPr/>
          <p:nvPr/>
        </p:nvSpPr>
        <p:spPr>
          <a:xfrm>
            <a:off x="3483864" y="2880360"/>
            <a:ext cx="2468880" cy="347472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3592" y="3017520"/>
            <a:ext cx="2249424" cy="3200400"/>
          </a:xfrm>
          <a:prstGeom prst="rect">
            <a:avLst/>
          </a:prstGeom>
          <a:noFill/>
        </p:spPr>
        <p:txBody>
          <a:bodyPr wrap="square">
            <a:spAutoFit/>
          </a:bodyPr>
          <a:lstStyle/>
          <a:p>
            <a:pPr>
              <a:spcAft>
                <a:spcPts val="1000"/>
              </a:spcAft>
              <a:defRPr sz="1150" b="1">
                <a:solidFill>
                  <a:srgbClr val="1D4ED8"/>
                </a:solidFill>
                <a:latin typeface="Arial"/>
              </a:defRPr>
            </a:pPr>
            <a:r>
              <a:t>2. In-Flight Tokenization</a:t>
            </a:r>
          </a:p>
          <a:p>
            <a:pPr>
              <a:spcAft>
                <a:spcPts val="500"/>
              </a:spcAft>
              <a:defRPr sz="950">
                <a:solidFill>
                  <a:srgbClr val="475569"/>
                </a:solidFill>
                <a:latin typeface="Arial"/>
              </a:defRPr>
            </a:pPr>
            <a:r>
              <a:t>• Verhoeff algorithm + proximity context verifies Indian Aadhaar.</a:t>
            </a:r>
          </a:p>
          <a:p>
            <a:pPr>
              <a:spcAft>
                <a:spcPts val="500"/>
              </a:spcAft>
              <a:defRPr sz="950">
                <a:solidFill>
                  <a:srgbClr val="475569"/>
                </a:solidFill>
                <a:latin typeface="Arial"/>
              </a:defRPr>
            </a:pPr>
            <a:r>
              <a:t>• PAN and API secrets detected via regex suites.</a:t>
            </a:r>
          </a:p>
          <a:p>
            <a:pPr>
              <a:spcAft>
                <a:spcPts val="500"/>
              </a:spcAft>
              <a:defRPr sz="950">
                <a:solidFill>
                  <a:srgbClr val="475569"/>
                </a:solidFill>
                <a:latin typeface="Arial"/>
              </a:defRPr>
            </a:pPr>
            <a:r>
              <a:t>• Replaced with format-preserving synthetic decoys in ephemeral RAM.</a:t>
            </a:r>
          </a:p>
        </p:txBody>
      </p:sp>
      <p:sp>
        <p:nvSpPr>
          <p:cNvPr id="11" name="Rounded Rectangle 10"/>
          <p:cNvSpPr/>
          <p:nvPr/>
        </p:nvSpPr>
        <p:spPr>
          <a:xfrm>
            <a:off x="6236208" y="2880360"/>
            <a:ext cx="2468880" cy="347472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3017520"/>
            <a:ext cx="2249424" cy="3200400"/>
          </a:xfrm>
          <a:prstGeom prst="rect">
            <a:avLst/>
          </a:prstGeom>
          <a:noFill/>
        </p:spPr>
        <p:txBody>
          <a:bodyPr wrap="square">
            <a:spAutoFit/>
          </a:bodyPr>
          <a:lstStyle/>
          <a:p>
            <a:pPr>
              <a:spcAft>
                <a:spcPts val="1000"/>
              </a:spcAft>
              <a:defRPr sz="1150" b="1">
                <a:solidFill>
                  <a:srgbClr val="D97706"/>
                </a:solidFill>
                <a:latin typeface="Arial"/>
              </a:defRPr>
            </a:pPr>
            <a:r>
              <a:t>3. Sanitized Cloud Query</a:t>
            </a:r>
          </a:p>
          <a:p>
            <a:pPr>
              <a:spcAft>
                <a:spcPts val="500"/>
              </a:spcAft>
              <a:defRPr sz="950">
                <a:solidFill>
                  <a:srgbClr val="475569"/>
                </a:solidFill>
                <a:latin typeface="Arial"/>
              </a:defRPr>
            </a:pPr>
            <a:r>
              <a:t>• External cloud LLM (OpenAI, Claude) receives ONLY synthetic decoys.</a:t>
            </a:r>
          </a:p>
          <a:p>
            <a:pPr>
              <a:spcAft>
                <a:spcPts val="500"/>
              </a:spcAft>
              <a:defRPr sz="950">
                <a:solidFill>
                  <a:srgbClr val="475569"/>
                </a:solidFill>
                <a:latin typeface="Arial"/>
              </a:defRPr>
            </a:pPr>
            <a:r>
              <a:t>• Plaintext PII never leaves host machine.</a:t>
            </a:r>
          </a:p>
          <a:p>
            <a:pPr>
              <a:spcAft>
                <a:spcPts val="500"/>
              </a:spcAft>
              <a:defRPr sz="950">
                <a:solidFill>
                  <a:srgbClr val="475569"/>
                </a:solidFill>
                <a:latin typeface="Arial"/>
              </a:defRPr>
            </a:pPr>
            <a:r>
              <a:t>• Zero cloud training exposure.</a:t>
            </a:r>
          </a:p>
        </p:txBody>
      </p:sp>
      <p:sp>
        <p:nvSpPr>
          <p:cNvPr id="13" name="Rounded Rectangle 12"/>
          <p:cNvSpPr/>
          <p:nvPr/>
        </p:nvSpPr>
        <p:spPr>
          <a:xfrm>
            <a:off x="8988552" y="2880360"/>
            <a:ext cx="2468880" cy="347472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3017520"/>
            <a:ext cx="2249424" cy="3200400"/>
          </a:xfrm>
          <a:prstGeom prst="rect">
            <a:avLst/>
          </a:prstGeom>
          <a:noFill/>
        </p:spPr>
        <p:txBody>
          <a:bodyPr wrap="square">
            <a:spAutoFit/>
          </a:bodyPr>
          <a:lstStyle/>
          <a:p>
            <a:pPr>
              <a:spcAft>
                <a:spcPts val="1000"/>
              </a:spcAft>
              <a:defRPr sz="1150" b="1">
                <a:solidFill>
                  <a:srgbClr val="059669"/>
                </a:solidFill>
                <a:latin typeface="Arial"/>
              </a:defRPr>
            </a:pPr>
            <a:r>
              <a:t>4. Transparent Re-hydration</a:t>
            </a:r>
          </a:p>
          <a:p>
            <a:pPr>
              <a:spcAft>
                <a:spcPts val="500"/>
              </a:spcAft>
              <a:defRPr sz="950">
                <a:solidFill>
                  <a:srgbClr val="475569"/>
                </a:solidFill>
                <a:latin typeface="Arial"/>
              </a:defRPr>
            </a:pPr>
            <a:r>
              <a:t>• Streaming response returns to local S.H.A.D.E. gateway.</a:t>
            </a:r>
          </a:p>
          <a:p>
            <a:pPr>
              <a:spcAft>
                <a:spcPts val="500"/>
              </a:spcAft>
              <a:defRPr sz="950">
                <a:solidFill>
                  <a:srgbClr val="475569"/>
                </a:solidFill>
                <a:latin typeface="Arial"/>
              </a:defRPr>
            </a:pPr>
            <a:r>
              <a:t>• Decoys replaced with original values from volatile RAM.</a:t>
            </a:r>
          </a:p>
          <a:p>
            <a:pPr>
              <a:spcAft>
                <a:spcPts val="500"/>
              </a:spcAft>
              <a:defRPr sz="950">
                <a:solidFill>
                  <a:srgbClr val="475569"/>
                </a:solidFill>
                <a:latin typeface="Arial"/>
              </a:defRPr>
            </a:pPr>
            <a:r>
              <a:t>• User sees complete, uncorrupted response locally.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950" b="1">
                <a:solidFill>
                  <a:srgbClr val="1D4ED8"/>
                </a:solidFill>
                <a:latin typeface="Arial"/>
              </a:defRPr>
            </a:pPr>
            <a:r>
              <a:t>PROJECT S.H.A.D.E. | ACADEMIC &amp; HACKATHON PROPOSAL</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100" b="1">
                <a:solidFill>
                  <a:srgbClr val="0F172A"/>
                </a:solidFill>
                <a:latin typeface="Arial"/>
              </a:defRPr>
            </a:pPr>
            <a:r>
              <a:t>3. System Architecture — The 5 Core Sovereign Pillars</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2011680" cy="4983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17320"/>
            <a:ext cx="2011680" cy="73152"/>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81912"/>
            <a:ext cx="1828800" cy="4654296"/>
          </a:xfrm>
          <a:prstGeom prst="rect">
            <a:avLst/>
          </a:prstGeom>
          <a:noFill/>
        </p:spPr>
        <p:txBody>
          <a:bodyPr wrap="square">
            <a:spAutoFit/>
          </a:bodyPr>
          <a:lstStyle/>
          <a:p>
            <a:pPr>
              <a:spcAft>
                <a:spcPts val="1000"/>
              </a:spcAft>
              <a:defRPr sz="1100" b="1">
                <a:solidFill>
                  <a:srgbClr val="DC2626"/>
                </a:solidFill>
                <a:latin typeface="Arial"/>
              </a:defRPr>
            </a:pPr>
            <a:r>
              <a:t>1. Sovereign AI Gateway</a:t>
            </a:r>
          </a:p>
          <a:p>
            <a:pPr>
              <a:spcAft>
                <a:spcPts val="500"/>
              </a:spcAft>
              <a:defRPr sz="900">
                <a:solidFill>
                  <a:srgbClr val="475569"/>
                </a:solidFill>
                <a:latin typeface="Arial"/>
              </a:defRPr>
            </a:pPr>
            <a:r>
              <a:t>• Local Reverse Proxy on 127.0.0.1:8000.</a:t>
            </a:r>
          </a:p>
          <a:p>
            <a:pPr>
              <a:spcAft>
                <a:spcPts val="500"/>
              </a:spcAft>
              <a:defRPr sz="900">
                <a:solidFill>
                  <a:srgbClr val="475569"/>
                </a:solidFill>
                <a:latin typeface="Arial"/>
              </a:defRPr>
            </a:pPr>
            <a:r>
              <a:t>• OpenAI &amp; Anthropic API compatible.</a:t>
            </a:r>
          </a:p>
          <a:p>
            <a:pPr>
              <a:spcAft>
                <a:spcPts val="500"/>
              </a:spcAft>
              <a:defRPr sz="900">
                <a:solidFill>
                  <a:srgbClr val="475569"/>
                </a:solidFill>
                <a:latin typeface="Arial"/>
              </a:defRPr>
            </a:pPr>
            <a:r>
              <a:t>• Proxies IDEs (VS Code, Cursor), tools, and scripts.</a:t>
            </a:r>
          </a:p>
          <a:p>
            <a:pPr>
              <a:spcAft>
                <a:spcPts val="500"/>
              </a:spcAft>
              <a:defRPr sz="900">
                <a:solidFill>
                  <a:srgbClr val="475569"/>
                </a:solidFill>
                <a:latin typeface="Arial"/>
              </a:defRPr>
            </a:pPr>
            <a:r>
              <a:t>• In-flight prompt tokenization &amp; streaming re-hydration.</a:t>
            </a:r>
          </a:p>
          <a:p>
            <a:pPr>
              <a:spcAft>
                <a:spcPts val="500"/>
              </a:spcAft>
              <a:defRPr sz="900">
                <a:solidFill>
                  <a:srgbClr val="475569"/>
                </a:solidFill>
                <a:latin typeface="Arial"/>
              </a:defRPr>
            </a:pPr>
            <a:r>
              <a:t>• Zero raw PII leaves local machine.</a:t>
            </a:r>
          </a:p>
        </p:txBody>
      </p:sp>
      <p:sp>
        <p:nvSpPr>
          <p:cNvPr id="8" name="Rounded Rectangle 7"/>
          <p:cNvSpPr/>
          <p:nvPr/>
        </p:nvSpPr>
        <p:spPr>
          <a:xfrm>
            <a:off x="2907792" y="1417320"/>
            <a:ext cx="2011680" cy="498348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07792" y="1417320"/>
            <a:ext cx="2011680"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2" y="1581912"/>
            <a:ext cx="1828800" cy="4654296"/>
          </a:xfrm>
          <a:prstGeom prst="rect">
            <a:avLst/>
          </a:prstGeom>
          <a:noFill/>
        </p:spPr>
        <p:txBody>
          <a:bodyPr wrap="square">
            <a:spAutoFit/>
          </a:bodyPr>
          <a:lstStyle/>
          <a:p>
            <a:pPr>
              <a:spcAft>
                <a:spcPts val="1000"/>
              </a:spcAft>
              <a:defRPr sz="1100" b="1">
                <a:solidFill>
                  <a:srgbClr val="1D4ED8"/>
                </a:solidFill>
                <a:latin typeface="Arial"/>
              </a:defRPr>
            </a:pPr>
            <a:r>
              <a:t>2. Context-Aware DLP</a:t>
            </a:r>
          </a:p>
          <a:p>
            <a:pPr>
              <a:spcAft>
                <a:spcPts val="500"/>
              </a:spcAft>
              <a:defRPr sz="900">
                <a:solidFill>
                  <a:srgbClr val="475569"/>
                </a:solidFill>
                <a:latin typeface="Arial"/>
              </a:defRPr>
            </a:pPr>
            <a:r>
              <a:t>• Verhoeff Dihedral D5 mathematical checksum.</a:t>
            </a:r>
          </a:p>
          <a:p>
            <a:pPr>
              <a:spcAft>
                <a:spcPts val="500"/>
              </a:spcAft>
              <a:defRPr sz="900">
                <a:solidFill>
                  <a:srgbClr val="475569"/>
                </a:solidFill>
                <a:latin typeface="Arial"/>
              </a:defRPr>
            </a:pPr>
            <a:r>
              <a:t>• Proximity Context Engine (4-4-4 spacing / Aadhaar anchors).</a:t>
            </a:r>
          </a:p>
          <a:p>
            <a:pPr>
              <a:spcAft>
                <a:spcPts val="500"/>
              </a:spcAft>
              <a:defRPr sz="900">
                <a:solidFill>
                  <a:srgbClr val="475569"/>
                </a:solidFill>
                <a:latin typeface="Arial"/>
              </a:defRPr>
            </a:pPr>
            <a:r>
              <a:t>• PAN 4th-char taxpayer entity validation.</a:t>
            </a:r>
          </a:p>
          <a:p>
            <a:pPr>
              <a:spcAft>
                <a:spcPts val="500"/>
              </a:spcAft>
              <a:defRPr sz="900">
                <a:solidFill>
                  <a:srgbClr val="475569"/>
                </a:solidFill>
                <a:latin typeface="Arial"/>
              </a:defRPr>
            </a:pPr>
            <a:r>
              <a:t>• API keys (OpenAI, AWS) &amp; banking (UPI/IFSC) regex.</a:t>
            </a:r>
          </a:p>
          <a:p>
            <a:pPr>
              <a:spcAft>
                <a:spcPts val="500"/>
              </a:spcAft>
              <a:defRPr sz="900">
                <a:solidFill>
                  <a:srgbClr val="475569"/>
                </a:solidFill>
                <a:latin typeface="Arial"/>
              </a:defRPr>
            </a:pPr>
            <a:r>
              <a:t>• Ephemeral in-memory vault (RAM-only).</a:t>
            </a:r>
          </a:p>
        </p:txBody>
      </p:sp>
      <p:sp>
        <p:nvSpPr>
          <p:cNvPr id="11" name="Rounded Rectangle 10"/>
          <p:cNvSpPr/>
          <p:nvPr/>
        </p:nvSpPr>
        <p:spPr>
          <a:xfrm>
            <a:off x="5084064" y="1417320"/>
            <a:ext cx="2011680" cy="498348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84064" y="1417320"/>
            <a:ext cx="2011680" cy="73152"/>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504" y="1581912"/>
            <a:ext cx="1828800" cy="4654296"/>
          </a:xfrm>
          <a:prstGeom prst="rect">
            <a:avLst/>
          </a:prstGeom>
          <a:noFill/>
        </p:spPr>
        <p:txBody>
          <a:bodyPr wrap="square">
            <a:spAutoFit/>
          </a:bodyPr>
          <a:lstStyle/>
          <a:p>
            <a:pPr>
              <a:spcAft>
                <a:spcPts val="1000"/>
              </a:spcAft>
              <a:defRPr sz="1100" b="1">
                <a:solidFill>
                  <a:srgbClr val="D97706"/>
                </a:solidFill>
                <a:latin typeface="Arial"/>
              </a:defRPr>
            </a:pPr>
            <a:r>
              <a:t>3. Local Breach Radar</a:t>
            </a:r>
          </a:p>
          <a:p>
            <a:pPr>
              <a:spcAft>
                <a:spcPts val="500"/>
              </a:spcAft>
              <a:defRPr sz="900">
                <a:solidFill>
                  <a:srgbClr val="475569"/>
                </a:solidFill>
                <a:latin typeface="Arial"/>
              </a:defRPr>
            </a:pPr>
            <a:r>
              <a:t>• K-Anonymity cryptographic model.</a:t>
            </a:r>
          </a:p>
          <a:p>
            <a:pPr>
              <a:spcAft>
                <a:spcPts val="500"/>
              </a:spcAft>
              <a:defRPr sz="900">
                <a:solidFill>
                  <a:srgbClr val="475569"/>
                </a:solidFill>
                <a:latin typeface="Arial"/>
              </a:defRPr>
            </a:pPr>
            <a:r>
              <a:t>• Transmits only 5-character SHA-1 prefix to breach API.</a:t>
            </a:r>
          </a:p>
          <a:p>
            <a:pPr>
              <a:spcAft>
                <a:spcPts val="500"/>
              </a:spcAft>
              <a:defRPr sz="900">
                <a:solidFill>
                  <a:srgbClr val="475569"/>
                </a:solidFill>
                <a:latin typeface="Arial"/>
              </a:defRPr>
            </a:pPr>
            <a:r>
              <a:t>• Local suffix matching on host CPU.</a:t>
            </a:r>
          </a:p>
          <a:p>
            <a:pPr>
              <a:spcAft>
                <a:spcPts val="500"/>
              </a:spcAft>
              <a:defRPr sz="900">
                <a:solidFill>
                  <a:srgbClr val="475569"/>
                </a:solidFill>
                <a:latin typeface="Arial"/>
              </a:defRPr>
            </a:pPr>
            <a:r>
              <a:t>• Illustrative Risk Score (72/100 benchmark).</a:t>
            </a:r>
          </a:p>
          <a:p>
            <a:pPr>
              <a:spcAft>
                <a:spcPts val="500"/>
              </a:spcAft>
              <a:defRPr sz="900">
                <a:solidFill>
                  <a:srgbClr val="475569"/>
                </a:solidFill>
                <a:latin typeface="Arial"/>
              </a:defRPr>
            </a:pPr>
            <a:r>
              <a:t>• Zero credential disclosure.</a:t>
            </a:r>
          </a:p>
        </p:txBody>
      </p:sp>
      <p:sp>
        <p:nvSpPr>
          <p:cNvPr id="14" name="Rounded Rectangle 13"/>
          <p:cNvSpPr/>
          <p:nvPr/>
        </p:nvSpPr>
        <p:spPr>
          <a:xfrm>
            <a:off x="7260336" y="1417320"/>
            <a:ext cx="2011680" cy="49834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60336" y="1417320"/>
            <a:ext cx="2011680" cy="73152"/>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51776" y="1581912"/>
            <a:ext cx="1828800" cy="4654296"/>
          </a:xfrm>
          <a:prstGeom prst="rect">
            <a:avLst/>
          </a:prstGeom>
          <a:noFill/>
        </p:spPr>
        <p:txBody>
          <a:bodyPr wrap="square">
            <a:spAutoFit/>
          </a:bodyPr>
          <a:lstStyle/>
          <a:p>
            <a:pPr>
              <a:spcAft>
                <a:spcPts val="1000"/>
              </a:spcAft>
              <a:defRPr sz="1100" b="1">
                <a:solidFill>
                  <a:srgbClr val="059669"/>
                </a:solidFill>
                <a:latin typeface="Arial"/>
              </a:defRPr>
            </a:pPr>
            <a:r>
              <a:t>4. DPDP Statutory Studio</a:t>
            </a:r>
          </a:p>
          <a:p>
            <a:pPr>
              <a:spcAft>
                <a:spcPts val="500"/>
              </a:spcAft>
              <a:defRPr sz="900">
                <a:solidFill>
                  <a:srgbClr val="475569"/>
                </a:solidFill>
                <a:latin typeface="Arial"/>
              </a:defRPr>
            </a:pPr>
            <a:r>
              <a:t>• Statutory Section 12(1) &amp; 12(3) Right to Erasure.</a:t>
            </a:r>
          </a:p>
          <a:p>
            <a:pPr>
              <a:spcAft>
                <a:spcPts val="500"/>
              </a:spcAft>
              <a:defRPr sz="900">
                <a:solidFill>
                  <a:srgbClr val="475569"/>
                </a:solidFill>
                <a:latin typeface="Arial"/>
              </a:defRPr>
            </a:pPr>
            <a:r>
              <a:t>• Hardcoded legal templates (zero AI hallucination).</a:t>
            </a:r>
          </a:p>
          <a:p>
            <a:pPr>
              <a:spcAft>
                <a:spcPts val="500"/>
              </a:spcAft>
              <a:defRPr sz="900">
                <a:solidFill>
                  <a:srgbClr val="475569"/>
                </a:solidFill>
                <a:latin typeface="Arial"/>
              </a:defRPr>
            </a:pPr>
            <a:r>
              <a:t>• Curated Indian fiduciary directory.</a:t>
            </a:r>
          </a:p>
          <a:p>
            <a:pPr>
              <a:spcAft>
                <a:spcPts val="500"/>
              </a:spcAft>
              <a:defRPr sz="900">
                <a:solidFill>
                  <a:srgbClr val="475569"/>
                </a:solidFill>
                <a:latin typeface="Arial"/>
              </a:defRPr>
            </a:pPr>
            <a:r>
              <a:t>• Cites Act Schedule fines (up to Rs.250 Cr).</a:t>
            </a:r>
          </a:p>
          <a:p>
            <a:pPr>
              <a:spcAft>
                <a:spcPts val="500"/>
              </a:spcAft>
              <a:defRPr sz="900">
                <a:solidFill>
                  <a:srgbClr val="475569"/>
                </a:solidFill>
                <a:latin typeface="Arial"/>
              </a:defRPr>
            </a:pPr>
            <a:r>
              <a:t>• Ready-to-dispatch drafts with local audit log.</a:t>
            </a:r>
          </a:p>
        </p:txBody>
      </p:sp>
      <p:sp>
        <p:nvSpPr>
          <p:cNvPr id="17" name="Rounded Rectangle 16"/>
          <p:cNvSpPr/>
          <p:nvPr/>
        </p:nvSpPr>
        <p:spPr>
          <a:xfrm>
            <a:off x="9436608" y="1417320"/>
            <a:ext cx="2011680" cy="498348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36608" y="1417320"/>
            <a:ext cx="2011680" cy="7315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28048" y="1581912"/>
            <a:ext cx="1828800" cy="4654296"/>
          </a:xfrm>
          <a:prstGeom prst="rect">
            <a:avLst/>
          </a:prstGeom>
          <a:noFill/>
        </p:spPr>
        <p:txBody>
          <a:bodyPr wrap="square">
            <a:spAutoFit/>
          </a:bodyPr>
          <a:lstStyle/>
          <a:p>
            <a:pPr>
              <a:spcAft>
                <a:spcPts val="1000"/>
              </a:spcAft>
              <a:defRPr sz="1100" b="1">
                <a:solidFill>
                  <a:srgbClr val="0F172A"/>
                </a:solidFill>
                <a:latin typeface="Arial"/>
              </a:defRPr>
            </a:pPr>
            <a:r>
              <a:t>5. Ambient Voice Sentinel</a:t>
            </a:r>
          </a:p>
          <a:p>
            <a:pPr>
              <a:spcAft>
                <a:spcPts val="500"/>
              </a:spcAft>
              <a:defRPr sz="900">
                <a:solidFill>
                  <a:srgbClr val="475569"/>
                </a:solidFill>
                <a:latin typeface="Arial"/>
              </a:defRPr>
            </a:pPr>
            <a:r>
              <a:t>• On-device wake-word: 'Hey Shade' (Porcupine).</a:t>
            </a:r>
          </a:p>
          <a:p>
            <a:pPr>
              <a:spcAft>
                <a:spcPts val="500"/>
              </a:spcAft>
              <a:defRPr sz="900">
                <a:solidFill>
                  <a:srgbClr val="475569"/>
                </a:solidFill>
                <a:latin typeface="Arial"/>
              </a:defRPr>
            </a:pPr>
            <a:r>
              <a:t>• Vosk offline speech recognition on host CPU.</a:t>
            </a:r>
          </a:p>
          <a:p>
            <a:pPr>
              <a:spcAft>
                <a:spcPts val="500"/>
              </a:spcAft>
              <a:defRPr sz="900">
                <a:solidFill>
                  <a:srgbClr val="475569"/>
                </a:solidFill>
                <a:latin typeface="Arial"/>
              </a:defRPr>
            </a:pPr>
            <a:r>
              <a:t>• Sub-40ms wake latency with &lt;1.8% CPU usage.</a:t>
            </a:r>
          </a:p>
          <a:p>
            <a:pPr>
              <a:spcAft>
                <a:spcPts val="500"/>
              </a:spcAft>
              <a:defRPr sz="900">
                <a:solidFill>
                  <a:srgbClr val="475569"/>
                </a:solidFill>
                <a:latin typeface="Arial"/>
              </a:defRPr>
            </a:pPr>
            <a:r>
              <a:t>• Real-time spoken leak exfiltration alerts.</a:t>
            </a:r>
          </a:p>
          <a:p>
            <a:pPr>
              <a:spcAft>
                <a:spcPts val="500"/>
              </a:spcAft>
              <a:defRPr sz="900">
                <a:solidFill>
                  <a:srgbClr val="475569"/>
                </a:solidFill>
                <a:latin typeface="Arial"/>
              </a:defRPr>
            </a:pPr>
            <a:r>
              <a:t>• Hands-free control for security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950" b="1">
                <a:solidFill>
                  <a:srgbClr val="1D4ED8"/>
                </a:solidFill>
                <a:latin typeface="Arial"/>
              </a:defRPr>
            </a:pPr>
            <a:r>
              <a:t>PROJECT S.H.A.D.E. | ACADEMIC &amp; HACKATHON PROPOSAL</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100" b="1">
                <a:solidFill>
                  <a:srgbClr val="0F172A"/>
                </a:solidFill>
                <a:latin typeface="Arial"/>
              </a:defRPr>
            </a:pPr>
            <a:r>
              <a:t>4. Engineering Depth — Algorithms &amp; Mathematical Rigor</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2514600" cy="498348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17320"/>
            <a:ext cx="2514600" cy="7315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0200"/>
            <a:ext cx="2240280" cy="4617720"/>
          </a:xfrm>
          <a:prstGeom prst="rect">
            <a:avLst/>
          </a:prstGeom>
          <a:noFill/>
        </p:spPr>
        <p:txBody>
          <a:bodyPr wrap="square">
            <a:spAutoFit/>
          </a:bodyPr>
          <a:lstStyle/>
          <a:p>
            <a:pPr>
              <a:spcAft>
                <a:spcPts val="1000"/>
              </a:spcAft>
              <a:defRPr sz="1150" b="1">
                <a:solidFill>
                  <a:srgbClr val="0F172A"/>
                </a:solidFill>
                <a:latin typeface="Arial"/>
              </a:defRPr>
            </a:pPr>
            <a:r>
              <a:t>1. Verhoeff + Context Engine</a:t>
            </a:r>
          </a:p>
          <a:p>
            <a:pPr>
              <a:spcAft>
                <a:spcPts val="600"/>
              </a:spcAft>
              <a:defRPr sz="950">
                <a:solidFill>
                  <a:srgbClr val="475569"/>
                </a:solidFill>
                <a:latin typeface="Arial"/>
              </a:defRPr>
            </a:pPr>
            <a:r>
              <a:t>• Structural validation of Indian Aadhaar using Dihedral Group D5 matrix math.</a:t>
            </a:r>
          </a:p>
          <a:p>
            <a:pPr>
              <a:spcAft>
                <a:spcPts val="600"/>
              </a:spcAft>
              <a:defRPr sz="950">
                <a:solidFill>
                  <a:srgbClr val="475569"/>
                </a:solidFill>
                <a:latin typeface="Arial"/>
              </a:defRPr>
            </a:pPr>
            <a:r>
              <a:t>• Iterative chain: c = d(c, p(i mod 8, digit)). Catches all adjacent transpositions.</a:t>
            </a:r>
          </a:p>
          <a:p>
            <a:pPr>
              <a:spcAft>
                <a:spcPts val="600"/>
              </a:spcAft>
              <a:defRPr sz="950">
                <a:solidFill>
                  <a:srgbClr val="475569"/>
                </a:solidFill>
                <a:latin typeface="Arial"/>
              </a:defRPr>
            </a:pPr>
            <a:r>
              <a:t>• Proximity Context Anchor: Requires 4-4-4 spacing or keywords (Aadhaar, UID) to eliminate random 12-digit false positives.</a:t>
            </a:r>
          </a:p>
          <a:p>
            <a:pPr>
              <a:spcAft>
                <a:spcPts val="600"/>
              </a:spcAft>
              <a:defRPr sz="950">
                <a:solidFill>
                  <a:srgbClr val="475569"/>
                </a:solidFill>
                <a:latin typeface="Arial"/>
              </a:defRPr>
            </a:pPr>
            <a:r>
              <a:t>• Deterministic, ultra-fast Python execution (&lt;0.02ms).</a:t>
            </a:r>
          </a:p>
        </p:txBody>
      </p:sp>
      <p:sp>
        <p:nvSpPr>
          <p:cNvPr id="8" name="Rounded Rectangle 7"/>
          <p:cNvSpPr/>
          <p:nvPr/>
        </p:nvSpPr>
        <p:spPr>
          <a:xfrm>
            <a:off x="3465576" y="1417320"/>
            <a:ext cx="2514600" cy="4983480"/>
          </a:xfrm>
          <a:prstGeom prst="roundRect">
            <a:avLst/>
          </a:prstGeom>
          <a:solidFill>
            <a:srgbClr val="F1F5F9"/>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65576" y="1417320"/>
            <a:ext cx="2514600"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1600200"/>
            <a:ext cx="2240280" cy="4617720"/>
          </a:xfrm>
          <a:prstGeom prst="rect">
            <a:avLst/>
          </a:prstGeom>
          <a:noFill/>
        </p:spPr>
        <p:txBody>
          <a:bodyPr wrap="square">
            <a:spAutoFit/>
          </a:bodyPr>
          <a:lstStyle/>
          <a:p>
            <a:pPr>
              <a:spcAft>
                <a:spcPts val="1000"/>
              </a:spcAft>
              <a:defRPr sz="1150" b="1">
                <a:solidFill>
                  <a:srgbClr val="1D4ED8"/>
                </a:solidFill>
                <a:latin typeface="Arial"/>
              </a:defRPr>
            </a:pPr>
            <a:r>
              <a:t>2. Regex Heuristic Suite</a:t>
            </a:r>
          </a:p>
          <a:p>
            <a:pPr>
              <a:spcAft>
                <a:spcPts val="600"/>
              </a:spcAft>
              <a:defRPr sz="950">
                <a:solidFill>
                  <a:srgbClr val="475569"/>
                </a:solidFill>
                <a:latin typeface="Arial"/>
              </a:defRPr>
            </a:pPr>
            <a:r>
              <a:t>• Evaluates PAN cards via standard format: [A-Z]{5}[0-9]{4}[A-Z]{1}.</a:t>
            </a:r>
          </a:p>
          <a:p>
            <a:pPr>
              <a:spcAft>
                <a:spcPts val="600"/>
              </a:spcAft>
              <a:defRPr sz="950">
                <a:solidFill>
                  <a:srgbClr val="475569"/>
                </a:solidFill>
                <a:latin typeface="Arial"/>
              </a:defRPr>
            </a:pPr>
            <a:r>
              <a:t>• 4th character taxpayer status verification (P, C, H, F).</a:t>
            </a:r>
          </a:p>
          <a:p>
            <a:pPr>
              <a:spcAft>
                <a:spcPts val="600"/>
              </a:spcAft>
              <a:defRPr sz="950">
                <a:solidFill>
                  <a:srgbClr val="475569"/>
                </a:solidFill>
                <a:latin typeface="Arial"/>
              </a:defRPr>
            </a:pPr>
            <a:r>
              <a:t>• Catches secret API tokens: OpenAI (sk-...), AWS Access Keys (AKIA...).</a:t>
            </a:r>
          </a:p>
          <a:p>
            <a:pPr>
              <a:spcAft>
                <a:spcPts val="600"/>
              </a:spcAft>
              <a:defRPr sz="950">
                <a:solidFill>
                  <a:srgbClr val="475569"/>
                </a:solidFill>
                <a:latin typeface="Arial"/>
              </a:defRPr>
            </a:pPr>
            <a:r>
              <a:t>• Contextual keyword entropy scanner (secret=, token=, pwd=).</a:t>
            </a:r>
          </a:p>
        </p:txBody>
      </p:sp>
      <p:sp>
        <p:nvSpPr>
          <p:cNvPr id="11" name="Rounded Rectangle 10"/>
          <p:cNvSpPr/>
          <p:nvPr/>
        </p:nvSpPr>
        <p:spPr>
          <a:xfrm>
            <a:off x="6199632" y="1417320"/>
            <a:ext cx="2514600" cy="498348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417320"/>
            <a:ext cx="2514600" cy="73152"/>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1600200"/>
            <a:ext cx="2240280" cy="4617720"/>
          </a:xfrm>
          <a:prstGeom prst="rect">
            <a:avLst/>
          </a:prstGeom>
          <a:noFill/>
        </p:spPr>
        <p:txBody>
          <a:bodyPr wrap="square">
            <a:spAutoFit/>
          </a:bodyPr>
          <a:lstStyle/>
          <a:p>
            <a:pPr>
              <a:spcAft>
                <a:spcPts val="1000"/>
              </a:spcAft>
              <a:defRPr sz="1150" b="1">
                <a:solidFill>
                  <a:srgbClr val="059669"/>
                </a:solidFill>
                <a:latin typeface="Arial"/>
              </a:defRPr>
            </a:pPr>
            <a:r>
              <a:t>3. Ephemeral In-Memory Vault</a:t>
            </a:r>
          </a:p>
          <a:p>
            <a:pPr>
              <a:spcAft>
                <a:spcPts val="600"/>
              </a:spcAft>
              <a:defRPr sz="950">
                <a:solidFill>
                  <a:srgbClr val="475569"/>
                </a:solidFill>
                <a:latin typeface="Arial"/>
              </a:defRPr>
            </a:pPr>
            <a:r>
              <a:t>• In-memory session-scoped bidirectional map indexed by cryptographic hash.</a:t>
            </a:r>
          </a:p>
          <a:p>
            <a:pPr>
              <a:spcAft>
                <a:spcPts val="600"/>
              </a:spcAft>
              <a:defRPr sz="950">
                <a:solidFill>
                  <a:srgbClr val="475569"/>
                </a:solidFill>
                <a:latin typeface="Arial"/>
              </a:defRPr>
            </a:pPr>
            <a:r>
              <a:t>• Replaces real values with format-preserving synthetic decoys.</a:t>
            </a:r>
          </a:p>
          <a:p>
            <a:pPr>
              <a:spcAft>
                <a:spcPts val="600"/>
              </a:spcAft>
              <a:defRPr sz="950">
                <a:solidFill>
                  <a:srgbClr val="475569"/>
                </a:solidFill>
                <a:latin typeface="Arial"/>
              </a:defRPr>
            </a:pPr>
            <a:r>
              <a:t>• Session isolation: Keyed per conversation/tab; wiped on process termination.</a:t>
            </a:r>
          </a:p>
          <a:p>
            <a:pPr>
              <a:spcAft>
                <a:spcPts val="600"/>
              </a:spcAft>
              <a:defRPr sz="950">
                <a:solidFill>
                  <a:srgbClr val="475569"/>
                </a:solidFill>
                <a:latin typeface="Arial"/>
              </a:defRPr>
            </a:pPr>
            <a:r>
              <a:t>• Local-First Guarantee: Plaintext is never written to disk or logs.</a:t>
            </a:r>
          </a:p>
        </p:txBody>
      </p:sp>
      <p:sp>
        <p:nvSpPr>
          <p:cNvPr id="14" name="Rounded Rectangle 13"/>
          <p:cNvSpPr/>
          <p:nvPr/>
        </p:nvSpPr>
        <p:spPr>
          <a:xfrm>
            <a:off x="8933688" y="1417320"/>
            <a:ext cx="2514600" cy="4983480"/>
          </a:xfrm>
          <a:prstGeom prst="round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33688" y="1417320"/>
            <a:ext cx="2514600" cy="73152"/>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1600200"/>
            <a:ext cx="2240280" cy="4617720"/>
          </a:xfrm>
          <a:prstGeom prst="rect">
            <a:avLst/>
          </a:prstGeom>
          <a:noFill/>
        </p:spPr>
        <p:txBody>
          <a:bodyPr wrap="square">
            <a:spAutoFit/>
          </a:bodyPr>
          <a:lstStyle/>
          <a:p>
            <a:pPr>
              <a:spcAft>
                <a:spcPts val="1000"/>
              </a:spcAft>
              <a:defRPr sz="1150" b="1">
                <a:solidFill>
                  <a:srgbClr val="D97706"/>
                </a:solidFill>
                <a:latin typeface="Arial"/>
              </a:defRPr>
            </a:pPr>
            <a:r>
              <a:t>4. Statutory DPDP Synthesizer</a:t>
            </a:r>
          </a:p>
          <a:p>
            <a:pPr>
              <a:spcAft>
                <a:spcPts val="600"/>
              </a:spcAft>
              <a:defRPr sz="950">
                <a:solidFill>
                  <a:srgbClr val="475569"/>
                </a:solidFill>
                <a:latin typeface="Arial"/>
              </a:defRPr>
            </a:pPr>
            <a:r>
              <a:t>• Hardcoded statutory templates citing Section 12(1) and 12(3) of DPDP Act 2023.</a:t>
            </a:r>
          </a:p>
          <a:p>
            <a:pPr>
              <a:spcAft>
                <a:spcPts val="600"/>
              </a:spcAft>
              <a:defRPr sz="950">
                <a:solidFill>
                  <a:srgbClr val="475569"/>
                </a:solidFill>
                <a:latin typeface="Arial"/>
              </a:defRPr>
            </a:pPr>
            <a:r>
              <a:t>• Cites Act's Schedule penalties (up to Rs.250 Cr for security safeguard failures).</a:t>
            </a:r>
          </a:p>
          <a:p>
            <a:pPr>
              <a:spcAft>
                <a:spcPts val="600"/>
              </a:spcAft>
              <a:defRPr sz="950">
                <a:solidFill>
                  <a:srgbClr val="475569"/>
                </a:solidFill>
                <a:latin typeface="Arial"/>
              </a:defRPr>
            </a:pPr>
            <a:r>
              <a:t>• Auto-populates verified Grievance Officer details from curated catalog.</a:t>
            </a:r>
          </a:p>
          <a:p>
            <a:pPr>
              <a:spcAft>
                <a:spcPts val="600"/>
              </a:spcAft>
              <a:defRPr sz="950">
                <a:solidFill>
                  <a:srgbClr val="475569"/>
                </a:solidFill>
                <a:latin typeface="Arial"/>
              </a:defRPr>
            </a:pPr>
            <a:r>
              <a:t>• Generates ready-to-dispatch drafts with local audit tracking.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950" b="1">
                <a:solidFill>
                  <a:srgbClr val="1D4ED8"/>
                </a:solidFill>
                <a:latin typeface="Arial"/>
              </a:defRPr>
            </a:pPr>
            <a:r>
              <a:t>PROJECT S.H.A.D.E. | ACADEMIC &amp; HACKATHON PROPOSAL</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100" b="1">
                <a:solidFill>
                  <a:srgbClr val="0F172A"/>
                </a:solidFill>
                <a:latin typeface="Arial"/>
              </a:defRPr>
            </a:pPr>
            <a:r>
              <a:t>5. User Interface &amp; Live Demonstration Flow</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120640" cy="49834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572000"/>
          </a:xfrm>
          <a:prstGeom prst="rect">
            <a:avLst/>
          </a:prstGeom>
          <a:noFill/>
        </p:spPr>
        <p:txBody>
          <a:bodyPr wrap="square">
            <a:spAutoFit/>
          </a:bodyPr>
          <a:lstStyle/>
          <a:p>
            <a:pPr>
              <a:spcAft>
                <a:spcPts val="1000"/>
              </a:spcAft>
              <a:defRPr sz="1250" b="1">
                <a:solidFill>
                  <a:srgbClr val="1D4ED8"/>
                </a:solidFill>
                <a:latin typeface="Arial"/>
              </a:defRPr>
            </a:pPr>
            <a:r>
              <a:t>SOVEREIGN WAR-ROOM HUD &amp; CONTROLS</a:t>
            </a:r>
          </a:p>
          <a:p>
            <a:pPr>
              <a:defRPr sz="1000" b="1">
                <a:solidFill>
                  <a:srgbClr val="0F172A"/>
                </a:solidFill>
                <a:latin typeface="Arial"/>
              </a:defRPr>
            </a:pPr>
            <a:r>
              <a:t>• Sovereign War-Room HUD (React 19 + Tailwind):</a:t>
            </a:r>
          </a:p>
          <a:p>
            <a:pPr>
              <a:spcAft>
                <a:spcPts val="600"/>
              </a:spcAft>
              <a:defRPr sz="900">
                <a:solidFill>
                  <a:srgbClr val="475569"/>
                </a:solidFill>
                <a:latin typeface="Arial"/>
              </a:defRPr>
            </a:pPr>
            <a:r>
              <a:t>Light-mode dashboard displaying real-time illustrative risk gauge, breach exposure nodes, and gateway activity logs.</a:t>
            </a:r>
          </a:p>
          <a:p>
            <a:pPr>
              <a:defRPr sz="1000" b="1">
                <a:solidFill>
                  <a:srgbClr val="0F172A"/>
                </a:solidFill>
                <a:latin typeface="Arial"/>
              </a:defRPr>
            </a:pPr>
            <a:r>
              <a:t>• Local AI Gateway Interception Sandbox:</a:t>
            </a:r>
          </a:p>
          <a:p>
            <a:pPr>
              <a:spcAft>
                <a:spcPts val="600"/>
              </a:spcAft>
              <a:defRPr sz="900">
                <a:solidFill>
                  <a:srgbClr val="475569"/>
                </a:solidFill>
                <a:latin typeface="Arial"/>
              </a:defRPr>
            </a:pPr>
            <a:r>
              <a:t>Live interactive sandbox where test Aadhaar numbers and API keys are streamed through localhost:8000 to demonstrate in-flight tokenization.</a:t>
            </a:r>
          </a:p>
          <a:p>
            <a:pPr>
              <a:defRPr sz="1000" b="1">
                <a:solidFill>
                  <a:srgbClr val="0F172A"/>
                </a:solidFill>
                <a:latin typeface="Arial"/>
              </a:defRPr>
            </a:pPr>
            <a:r>
              <a:t>• Context-Aware Clipboard Toast Overlay:</a:t>
            </a:r>
          </a:p>
          <a:p>
            <a:pPr>
              <a:spcAft>
                <a:spcPts val="600"/>
              </a:spcAft>
              <a:defRPr sz="900">
                <a:solidFill>
                  <a:srgbClr val="475569"/>
                </a:solidFill>
                <a:latin typeface="Arial"/>
              </a:defRPr>
            </a:pPr>
            <a:r>
              <a:t>When an Aadhaar or secret is copied, a floating HUD allows user to 'Paste as Safe Decoy' or 'Send Real Value (KYC)'.</a:t>
            </a:r>
          </a:p>
          <a:p>
            <a:pPr>
              <a:defRPr sz="1000" b="1">
                <a:solidFill>
                  <a:srgbClr val="0F172A"/>
                </a:solidFill>
                <a:latin typeface="Arial"/>
              </a:defRPr>
            </a:pPr>
            <a:r>
              <a:t>• Ambient Voice Daemon ('Hey Shade'):</a:t>
            </a:r>
          </a:p>
          <a:p>
            <a:pPr>
              <a:spcAft>
                <a:spcPts val="600"/>
              </a:spcAft>
              <a:defRPr sz="900">
                <a:solidFill>
                  <a:srgbClr val="475569"/>
                </a:solidFill>
                <a:latin typeface="Arial"/>
              </a:defRPr>
            </a:pPr>
            <a:r>
              <a:t>Hands-free voice sentinel built on Porcupine wake-word + Vosk offline STT + Pyttsx3 TTS. Pitch as a voice control layer on privacy.</a:t>
            </a:r>
          </a:p>
        </p:txBody>
      </p:sp>
      <p:sp>
        <p:nvSpPr>
          <p:cNvPr id="7" name="Rounded Rectangle 6"/>
          <p:cNvSpPr/>
          <p:nvPr/>
        </p:nvSpPr>
        <p:spPr>
          <a:xfrm>
            <a:off x="6217920" y="1417320"/>
            <a:ext cx="5242255" cy="498348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00200"/>
            <a:ext cx="4785055" cy="4572000"/>
          </a:xfrm>
          <a:prstGeom prst="rect">
            <a:avLst/>
          </a:prstGeom>
          <a:noFill/>
        </p:spPr>
        <p:txBody>
          <a:bodyPr wrap="square">
            <a:spAutoFit/>
          </a:bodyPr>
          <a:lstStyle/>
          <a:p>
            <a:pPr>
              <a:spcAft>
                <a:spcPts val="1000"/>
              </a:spcAft>
              <a:defRPr sz="1250" b="1">
                <a:solidFill>
                  <a:srgbClr val="1D4ED8"/>
                </a:solidFill>
                <a:latin typeface="Arial"/>
              </a:defRPr>
            </a:pPr>
            <a:r>
              <a:t>3-MINUTE LIVE DEMONSTRATION SEQUENCE</a:t>
            </a:r>
          </a:p>
          <a:p>
            <a:pPr>
              <a:spcBef>
                <a:spcPts val="400"/>
              </a:spcBef>
              <a:defRPr sz="1050" b="1">
                <a:solidFill>
                  <a:srgbClr val="0F172A"/>
                </a:solidFill>
                <a:latin typeface="Arial"/>
              </a:defRPr>
            </a:pPr>
            <a:r>
              <a:t>Minute 1: Live AI Gateway Prompt Interception</a:t>
            </a:r>
          </a:p>
          <a:p>
            <a:pPr>
              <a:defRPr sz="900">
                <a:solidFill>
                  <a:srgbClr val="475569"/>
                </a:solidFill>
                <a:latin typeface="Arial"/>
              </a:defRPr>
            </a:pPr>
            <a:r>
              <a:t>  - Send an AI query containing a valid-format test Aadhaar number.</a:t>
            </a:r>
          </a:p>
          <a:p>
            <a:pPr>
              <a:defRPr sz="900">
                <a:solidFill>
                  <a:srgbClr val="475569"/>
                </a:solidFill>
                <a:latin typeface="Arial"/>
              </a:defRPr>
            </a:pPr>
            <a:r>
              <a:t>  - Show the outgoing payload: Cloud AI receives ONLY synthetic decoy.</a:t>
            </a:r>
          </a:p>
          <a:p>
            <a:pPr>
              <a:defRPr sz="900">
                <a:solidFill>
                  <a:srgbClr val="475569"/>
                </a:solidFill>
                <a:latin typeface="Arial"/>
              </a:defRPr>
            </a:pPr>
            <a:r>
              <a:t>  - Show the incoming stream: Plaintext restored transparently locally.</a:t>
            </a:r>
          </a:p>
          <a:p>
            <a:pPr>
              <a:spcBef>
                <a:spcPts val="400"/>
              </a:spcBef>
              <a:defRPr sz="1050" b="1">
                <a:solidFill>
                  <a:srgbClr val="0F172A"/>
                </a:solidFill>
                <a:latin typeface="Arial"/>
              </a:defRPr>
            </a:pPr>
            <a:r>
              <a:t>Minute 2: Ambient Voice &amp; Exposure Radar</a:t>
            </a:r>
          </a:p>
          <a:p>
            <a:pPr>
              <a:defRPr sz="900">
                <a:solidFill>
                  <a:srgbClr val="475569"/>
                </a:solidFill>
                <a:latin typeface="Arial"/>
              </a:defRPr>
            </a:pPr>
            <a:r>
              <a:t>  - Voice trigger: 'Hey Shade, scan identity exposure.'</a:t>
            </a:r>
          </a:p>
          <a:p>
            <a:pPr>
              <a:defRPr sz="900">
                <a:solidFill>
                  <a:srgbClr val="475569"/>
                </a:solidFill>
                <a:latin typeface="Arial"/>
              </a:defRPr>
            </a:pPr>
            <a:r>
              <a:t>  - System responds with audible voice feedback.</a:t>
            </a:r>
          </a:p>
          <a:p>
            <a:pPr>
              <a:defRPr sz="900">
                <a:solidFill>
                  <a:srgbClr val="475569"/>
                </a:solidFill>
                <a:latin typeface="Arial"/>
              </a:defRPr>
            </a:pPr>
            <a:r>
              <a:t>  - Dashboard displays illustrative risk score using k-anonymity breach lookup.</a:t>
            </a:r>
          </a:p>
          <a:p>
            <a:pPr>
              <a:spcBef>
                <a:spcPts val="400"/>
              </a:spcBef>
              <a:defRPr sz="1050" b="1">
                <a:solidFill>
                  <a:srgbClr val="0F172A"/>
                </a:solidFill>
                <a:latin typeface="Arial"/>
              </a:defRPr>
            </a:pPr>
            <a:r>
              <a:t>Minute 3: DPDP Statutory Takedown Requisition</a:t>
            </a:r>
          </a:p>
          <a:p>
            <a:pPr>
              <a:defRPr sz="900">
                <a:solidFill>
                  <a:srgbClr val="475569"/>
                </a:solidFill>
                <a:latin typeface="Arial"/>
              </a:defRPr>
            </a:pPr>
            <a:r>
              <a:t>  - Trigger: 'Hey Shade, formulate DPDP notice.'</a:t>
            </a:r>
          </a:p>
          <a:p>
            <a:pPr>
              <a:defRPr sz="900">
                <a:solidFill>
                  <a:srgbClr val="475569"/>
                </a:solidFill>
                <a:latin typeface="Arial"/>
              </a:defRPr>
            </a:pPr>
            <a:r>
              <a:t>  - Generates verified Section 12 legal erasure requisition citing statutory penalties.</a:t>
            </a:r>
          </a:p>
          <a:p>
            <a:pPr>
              <a:defRPr sz="900">
                <a:solidFill>
                  <a:srgbClr val="475569"/>
                </a:solidFill>
                <a:latin typeface="Arial"/>
              </a:defRPr>
            </a:pPr>
            <a:r>
              <a:t>  - Renders ready-to-dispatch notice with local audit trail.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950" b="1">
                <a:solidFill>
                  <a:srgbClr val="1D4ED8"/>
                </a:solidFill>
                <a:latin typeface="Arial"/>
              </a:defRPr>
            </a:pPr>
            <a:r>
              <a:t>PROJECT S.H.A.D.E. | ACADEMIC &amp; HACKATHON PROPOSAL</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100" b="1">
                <a:solidFill>
                  <a:srgbClr val="0F172A"/>
                </a:solidFill>
                <a:latin typeface="Arial"/>
              </a:defRPr>
            </a:pPr>
            <a:r>
              <a:t>6. Technical Feasibility &amp; 24-Hour Execution Blueprint</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10728655" cy="201168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10271455" cy="1737360"/>
          </a:xfrm>
          <a:prstGeom prst="rect">
            <a:avLst/>
          </a:prstGeom>
          <a:noFill/>
        </p:spPr>
        <p:txBody>
          <a:bodyPr wrap="square">
            <a:spAutoFit/>
          </a:bodyPr>
          <a:lstStyle/>
          <a:p>
            <a:pPr>
              <a:spcAft>
                <a:spcPts val="600"/>
              </a:spcAft>
              <a:defRPr sz="1200" b="1">
                <a:solidFill>
                  <a:srgbClr val="059669"/>
                </a:solidFill>
                <a:latin typeface="Arial"/>
              </a:defRPr>
            </a:pPr>
            <a:r>
              <a:t>FEASIBILITY AUDIT: SCOPED EXECUTION FOR 4 B.TECH STUDENTS</a:t>
            </a:r>
          </a:p>
          <a:p>
            <a:pPr>
              <a:spcAft>
                <a:spcPts val="200"/>
              </a:spcAft>
              <a:defRPr sz="950">
                <a:solidFill>
                  <a:srgbClr val="475569"/>
                </a:solidFill>
                <a:latin typeface="Arial"/>
              </a:defRPr>
            </a:pPr>
            <a:r>
              <a:t>• Scoped Core Focus: Deep implementation of the 2 primary pillars (Local AI Gateway &amp; DPDP Notice Generator).</a:t>
            </a:r>
          </a:p>
          <a:p>
            <a:pPr>
              <a:spcAft>
                <a:spcPts val="200"/>
              </a:spcAft>
              <a:defRPr sz="950">
                <a:solidFill>
                  <a:srgbClr val="475569"/>
                </a:solidFill>
                <a:latin typeface="Arial"/>
              </a:defRPr>
            </a:pPr>
            <a:r>
              <a:t>• Pre-Built Unfair Advantage: Working voice wake-word daemon (Porcupine + Vosk) is operational, saving 6–8 hours.</a:t>
            </a:r>
          </a:p>
          <a:p>
            <a:pPr>
              <a:spcAft>
                <a:spcPts val="200"/>
              </a:spcAft>
              <a:defRPr sz="950">
                <a:solidFill>
                  <a:srgbClr val="475569"/>
                </a:solidFill>
                <a:latin typeface="Arial"/>
              </a:defRPr>
            </a:pPr>
            <a:r>
              <a:t>• Zero Heavy GPU Dependencies: Regex, Verhoeff, and local proxy run on standard student laptop CPUs with &lt;2% overhead.</a:t>
            </a:r>
          </a:p>
          <a:p>
            <a:pPr>
              <a:spcAft>
                <a:spcPts val="200"/>
              </a:spcAft>
              <a:defRPr sz="950">
                <a:solidFill>
                  <a:srgbClr val="475569"/>
                </a:solidFill>
                <a:latin typeface="Arial"/>
              </a:defRPr>
            </a:pPr>
            <a:r>
              <a:t>• College Wi-Fi Failsafe: Dual-engine fallback switches to local deterministic cache if venue internet drops.</a:t>
            </a:r>
          </a:p>
          <a:p>
            <a:pPr>
              <a:spcAft>
                <a:spcPts val="200"/>
              </a:spcAft>
              <a:defRPr sz="950">
                <a:solidFill>
                  <a:srgbClr val="475569"/>
                </a:solidFill>
                <a:latin typeface="Arial"/>
              </a:defRPr>
            </a:pPr>
            <a:r>
              <a:t>• Auditorium Noise Mitigation: On-screen quick-trigger simulation chips ensure testing continues even in loud presentation halls.</a:t>
            </a:r>
          </a:p>
        </p:txBody>
      </p:sp>
      <p:sp>
        <p:nvSpPr>
          <p:cNvPr id="7" name="Rounded Rectangle 6"/>
          <p:cNvSpPr/>
          <p:nvPr/>
        </p:nvSpPr>
        <p:spPr>
          <a:xfrm>
            <a:off x="731520" y="3611880"/>
            <a:ext cx="2514600" cy="2743200"/>
          </a:xfrm>
          <a:prstGeom prst="roundRect">
            <a:avLst/>
          </a:prstGeom>
          <a:solidFill>
            <a:srgbClr val="F1F5F9"/>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3749040"/>
            <a:ext cx="2295144" cy="2468880"/>
          </a:xfrm>
          <a:prstGeom prst="rect">
            <a:avLst/>
          </a:prstGeom>
          <a:noFill/>
        </p:spPr>
        <p:txBody>
          <a:bodyPr wrap="square">
            <a:spAutoFit/>
          </a:bodyPr>
          <a:lstStyle/>
          <a:p>
            <a:pPr>
              <a:spcAft>
                <a:spcPts val="800"/>
              </a:spcAft>
              <a:defRPr sz="1100" b="1">
                <a:solidFill>
                  <a:srgbClr val="1D4ED8"/>
                </a:solidFill>
                <a:latin typeface="Arial"/>
              </a:defRPr>
            </a:pPr>
            <a:r>
              <a:t>Student 1: Gateway &amp; Proxy</a:t>
            </a:r>
          </a:p>
          <a:p>
            <a:pPr>
              <a:spcAft>
                <a:spcPts val="400"/>
              </a:spcAft>
              <a:defRPr sz="950">
                <a:solidFill>
                  <a:srgbClr val="475569"/>
                </a:solidFill>
                <a:latin typeface="Arial"/>
              </a:defRPr>
            </a:pPr>
            <a:r>
              <a:t>• FastAPI reverse proxy.</a:t>
            </a:r>
          </a:p>
          <a:p>
            <a:pPr>
              <a:spcAft>
                <a:spcPts val="400"/>
              </a:spcAft>
              <a:defRPr sz="950">
                <a:solidFill>
                  <a:srgbClr val="475569"/>
                </a:solidFill>
                <a:latin typeface="Arial"/>
              </a:defRPr>
            </a:pPr>
            <a:r>
              <a:t>• In-flight token replacement.</a:t>
            </a:r>
          </a:p>
          <a:p>
            <a:pPr>
              <a:spcAft>
                <a:spcPts val="400"/>
              </a:spcAft>
              <a:defRPr sz="950">
                <a:solidFill>
                  <a:srgbClr val="475569"/>
                </a:solidFill>
                <a:latin typeface="Arial"/>
              </a:defRPr>
            </a:pPr>
            <a:r>
              <a:t>• In-memory session vault.</a:t>
            </a:r>
          </a:p>
          <a:p>
            <a:pPr>
              <a:spcAft>
                <a:spcPts val="400"/>
              </a:spcAft>
              <a:defRPr sz="950">
                <a:solidFill>
                  <a:srgbClr val="475569"/>
                </a:solidFill>
                <a:latin typeface="Arial"/>
              </a:defRPr>
            </a:pPr>
            <a:r>
              <a:t>• Local auth token security.</a:t>
            </a:r>
          </a:p>
        </p:txBody>
      </p:sp>
      <p:sp>
        <p:nvSpPr>
          <p:cNvPr id="9" name="Rounded Rectangle 8"/>
          <p:cNvSpPr/>
          <p:nvPr/>
        </p:nvSpPr>
        <p:spPr>
          <a:xfrm>
            <a:off x="3465576" y="3611880"/>
            <a:ext cx="2514600" cy="2743200"/>
          </a:xfrm>
          <a:prstGeom prst="round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5304" y="3749040"/>
            <a:ext cx="2295144" cy="2468880"/>
          </a:xfrm>
          <a:prstGeom prst="rect">
            <a:avLst/>
          </a:prstGeom>
          <a:noFill/>
        </p:spPr>
        <p:txBody>
          <a:bodyPr wrap="square">
            <a:spAutoFit/>
          </a:bodyPr>
          <a:lstStyle/>
          <a:p>
            <a:pPr>
              <a:spcAft>
                <a:spcPts val="800"/>
              </a:spcAft>
              <a:defRPr sz="1100" b="1">
                <a:solidFill>
                  <a:srgbClr val="D97706"/>
                </a:solidFill>
                <a:latin typeface="Arial"/>
              </a:defRPr>
            </a:pPr>
            <a:r>
              <a:t>Student 2: Detection &amp; DLP</a:t>
            </a:r>
          </a:p>
          <a:p>
            <a:pPr>
              <a:spcAft>
                <a:spcPts val="400"/>
              </a:spcAft>
              <a:defRPr sz="950">
                <a:solidFill>
                  <a:srgbClr val="475569"/>
                </a:solidFill>
                <a:latin typeface="Arial"/>
              </a:defRPr>
            </a:pPr>
            <a:r>
              <a:t>• Verhoeff algorithm.</a:t>
            </a:r>
          </a:p>
          <a:p>
            <a:pPr>
              <a:spcAft>
                <a:spcPts val="400"/>
              </a:spcAft>
              <a:defRPr sz="950">
                <a:solidFill>
                  <a:srgbClr val="475569"/>
                </a:solidFill>
                <a:latin typeface="Arial"/>
              </a:defRPr>
            </a:pPr>
            <a:r>
              <a:t>• Proximity context engine.</a:t>
            </a:r>
          </a:p>
          <a:p>
            <a:pPr>
              <a:spcAft>
                <a:spcPts val="400"/>
              </a:spcAft>
              <a:defRPr sz="950">
                <a:solidFill>
                  <a:srgbClr val="475569"/>
                </a:solidFill>
                <a:latin typeface="Arial"/>
              </a:defRPr>
            </a:pPr>
            <a:r>
              <a:t>• PAN &amp; API secret regex.</a:t>
            </a:r>
          </a:p>
          <a:p>
            <a:pPr>
              <a:spcAft>
                <a:spcPts val="400"/>
              </a:spcAft>
              <a:defRPr sz="950">
                <a:solidFill>
                  <a:srgbClr val="475569"/>
                </a:solidFill>
                <a:latin typeface="Arial"/>
              </a:defRPr>
            </a:pPr>
            <a:r>
              <a:t>• Format-preserving decoys.</a:t>
            </a:r>
          </a:p>
        </p:txBody>
      </p:sp>
      <p:sp>
        <p:nvSpPr>
          <p:cNvPr id="11" name="Rounded Rectangle 10"/>
          <p:cNvSpPr/>
          <p:nvPr/>
        </p:nvSpPr>
        <p:spPr>
          <a:xfrm>
            <a:off x="6199632" y="3611880"/>
            <a:ext cx="2514600" cy="27432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749040"/>
            <a:ext cx="2295144" cy="2468880"/>
          </a:xfrm>
          <a:prstGeom prst="rect">
            <a:avLst/>
          </a:prstGeom>
          <a:noFill/>
        </p:spPr>
        <p:txBody>
          <a:bodyPr wrap="square">
            <a:spAutoFit/>
          </a:bodyPr>
          <a:lstStyle/>
          <a:p>
            <a:pPr>
              <a:spcAft>
                <a:spcPts val="800"/>
              </a:spcAft>
              <a:defRPr sz="1100" b="1">
                <a:solidFill>
                  <a:srgbClr val="059669"/>
                </a:solidFill>
                <a:latin typeface="Arial"/>
              </a:defRPr>
            </a:pPr>
            <a:r>
              <a:t>Student 3: DPDP &amp; Web UI</a:t>
            </a:r>
          </a:p>
          <a:p>
            <a:pPr>
              <a:spcAft>
                <a:spcPts val="400"/>
              </a:spcAft>
              <a:defRPr sz="950">
                <a:solidFill>
                  <a:srgbClr val="475569"/>
                </a:solidFill>
                <a:latin typeface="Arial"/>
              </a:defRPr>
            </a:pPr>
            <a:r>
              <a:t>• Statutory notice templates.</a:t>
            </a:r>
          </a:p>
          <a:p>
            <a:pPr>
              <a:spcAft>
                <a:spcPts val="400"/>
              </a:spcAft>
              <a:defRPr sz="950">
                <a:solidFill>
                  <a:srgbClr val="475569"/>
                </a:solidFill>
                <a:latin typeface="Arial"/>
              </a:defRPr>
            </a:pPr>
            <a:r>
              <a:t>• Curated fiduciary directory.</a:t>
            </a:r>
          </a:p>
          <a:p>
            <a:pPr>
              <a:spcAft>
                <a:spcPts val="400"/>
              </a:spcAft>
              <a:defRPr sz="950">
                <a:solidFill>
                  <a:srgbClr val="475569"/>
                </a:solidFill>
                <a:latin typeface="Arial"/>
              </a:defRPr>
            </a:pPr>
            <a:r>
              <a:t>• React 19 War-Room HUD.</a:t>
            </a:r>
          </a:p>
          <a:p>
            <a:pPr>
              <a:spcAft>
                <a:spcPts val="400"/>
              </a:spcAft>
              <a:defRPr sz="950">
                <a:solidFill>
                  <a:srgbClr val="475569"/>
                </a:solidFill>
                <a:latin typeface="Arial"/>
              </a:defRPr>
            </a:pPr>
            <a:r>
              <a:t>• Threat index visualization.</a:t>
            </a:r>
          </a:p>
        </p:txBody>
      </p:sp>
      <p:sp>
        <p:nvSpPr>
          <p:cNvPr id="13" name="Rounded Rectangle 12"/>
          <p:cNvSpPr/>
          <p:nvPr/>
        </p:nvSpPr>
        <p:spPr>
          <a:xfrm>
            <a:off x="8933688" y="3611880"/>
            <a:ext cx="2514600" cy="274320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6" y="3749040"/>
            <a:ext cx="2295144" cy="2468880"/>
          </a:xfrm>
          <a:prstGeom prst="rect">
            <a:avLst/>
          </a:prstGeom>
          <a:noFill/>
        </p:spPr>
        <p:txBody>
          <a:bodyPr wrap="square">
            <a:spAutoFit/>
          </a:bodyPr>
          <a:lstStyle/>
          <a:p>
            <a:pPr>
              <a:spcAft>
                <a:spcPts val="800"/>
              </a:spcAft>
              <a:defRPr sz="1100" b="1">
                <a:solidFill>
                  <a:srgbClr val="0F172A"/>
                </a:solidFill>
                <a:latin typeface="Arial"/>
              </a:defRPr>
            </a:pPr>
            <a:r>
              <a:t>Student 4: Voice, Test &amp; Pitch</a:t>
            </a:r>
          </a:p>
          <a:p>
            <a:pPr>
              <a:spcAft>
                <a:spcPts val="400"/>
              </a:spcAft>
              <a:defRPr sz="950">
                <a:solidFill>
                  <a:srgbClr val="475569"/>
                </a:solidFill>
                <a:latin typeface="Arial"/>
              </a:defRPr>
            </a:pPr>
            <a:r>
              <a:t>• Porcupine voice daemon.</a:t>
            </a:r>
          </a:p>
          <a:p>
            <a:pPr>
              <a:spcAft>
                <a:spcPts val="400"/>
              </a:spcAft>
              <a:defRPr sz="950">
                <a:solidFill>
                  <a:srgbClr val="475569"/>
                </a:solidFill>
                <a:latin typeface="Arial"/>
              </a:defRPr>
            </a:pPr>
            <a:r>
              <a:t>• 50-item evaluation benchmark.</a:t>
            </a:r>
          </a:p>
          <a:p>
            <a:pPr>
              <a:spcAft>
                <a:spcPts val="400"/>
              </a:spcAft>
              <a:defRPr sz="950">
                <a:solidFill>
                  <a:srgbClr val="475569"/>
                </a:solidFill>
                <a:latin typeface="Arial"/>
              </a:defRPr>
            </a:pPr>
            <a:r>
              <a:t>• Backup demo recording.</a:t>
            </a:r>
          </a:p>
          <a:p>
            <a:pPr>
              <a:spcAft>
                <a:spcPts val="400"/>
              </a:spcAft>
              <a:defRPr sz="950">
                <a:solidFill>
                  <a:srgbClr val="475569"/>
                </a:solidFill>
                <a:latin typeface="Arial"/>
              </a:defRPr>
            </a:pPr>
            <a:r>
              <a:t>• Presentation &amp; Q&amp;A lead.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950" b="1">
                <a:solidFill>
                  <a:srgbClr val="1D4ED8"/>
                </a:solidFill>
                <a:latin typeface="Arial"/>
              </a:defRPr>
            </a:pPr>
            <a:r>
              <a:t>PROJECT S.H.A.D.E. | ACADEMIC &amp; HACKATHON PROPOSAL</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100" b="1">
                <a:solidFill>
                  <a:srgbClr val="0F172A"/>
                </a:solidFill>
                <a:latin typeface="Arial"/>
              </a:defRPr>
            </a:pPr>
            <a:r>
              <a:t>7. Commercial Viability, Business Model &amp; Competitive Edge</a:t>
            </a:r>
          </a:p>
        </p:txBody>
      </p:sp>
      <p:sp>
        <p:nvSpPr>
          <p:cNvPr id="4" name="Rectangle 3"/>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3429000" cy="219456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3154680" cy="1920240"/>
          </a:xfrm>
          <a:prstGeom prst="rect">
            <a:avLst/>
          </a:prstGeom>
          <a:noFill/>
        </p:spPr>
        <p:txBody>
          <a:bodyPr wrap="square">
            <a:spAutoFit/>
          </a:bodyPr>
          <a:lstStyle/>
          <a:p>
            <a:pPr>
              <a:spcAft>
                <a:spcPts val="600"/>
              </a:spcAft>
              <a:defRPr sz="1150" b="1">
                <a:solidFill>
                  <a:srgbClr val="1D4ED8"/>
                </a:solidFill>
                <a:latin typeface="Arial"/>
              </a:defRPr>
            </a:pPr>
            <a:r>
              <a:t>1. B2C Individual Tier</a:t>
            </a:r>
          </a:p>
          <a:p>
            <a:pPr>
              <a:spcAft>
                <a:spcPts val="400"/>
              </a:spcAft>
              <a:defRPr sz="950">
                <a:solidFill>
                  <a:srgbClr val="475569"/>
                </a:solidFill>
                <a:latin typeface="Arial"/>
              </a:defRPr>
            </a:pPr>
            <a:r>
              <a:t>• Free: Basic scan + 1 notice draft.</a:t>
            </a:r>
          </a:p>
          <a:p>
            <a:pPr>
              <a:spcAft>
                <a:spcPts val="400"/>
              </a:spcAft>
              <a:defRPr sz="950">
                <a:solidFill>
                  <a:srgbClr val="475569"/>
                </a:solidFill>
                <a:latin typeface="Arial"/>
              </a:defRPr>
            </a:pPr>
            <a:r>
              <a:t>• Pro: Rs.149 - Rs.249 / month.</a:t>
            </a:r>
          </a:p>
          <a:p>
            <a:pPr>
              <a:spcAft>
                <a:spcPts val="400"/>
              </a:spcAft>
              <a:defRPr sz="950">
                <a:solidFill>
                  <a:srgbClr val="475569"/>
                </a:solidFill>
                <a:latin typeface="Arial"/>
              </a:defRPr>
            </a:pPr>
            <a:r>
              <a:t>• Real-time AI gateway protection, breach radar, and recurring DPDP notice drafts.</a:t>
            </a:r>
          </a:p>
        </p:txBody>
      </p:sp>
      <p:sp>
        <p:nvSpPr>
          <p:cNvPr id="7" name="Rounded Rectangle 6"/>
          <p:cNvSpPr/>
          <p:nvPr/>
        </p:nvSpPr>
        <p:spPr>
          <a:xfrm>
            <a:off x="4379976" y="1417320"/>
            <a:ext cx="3429000" cy="219456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136" y="1554480"/>
            <a:ext cx="3154680" cy="1920240"/>
          </a:xfrm>
          <a:prstGeom prst="rect">
            <a:avLst/>
          </a:prstGeom>
          <a:noFill/>
        </p:spPr>
        <p:txBody>
          <a:bodyPr wrap="square">
            <a:spAutoFit/>
          </a:bodyPr>
          <a:lstStyle/>
          <a:p>
            <a:pPr>
              <a:spcAft>
                <a:spcPts val="600"/>
              </a:spcAft>
              <a:defRPr sz="1150" b="1">
                <a:solidFill>
                  <a:srgbClr val="DC2626"/>
                </a:solidFill>
                <a:latin typeface="Arial"/>
              </a:defRPr>
            </a:pPr>
            <a:r>
              <a:t>2. B2B Developer / SME Teams</a:t>
            </a:r>
          </a:p>
          <a:p>
            <a:pPr>
              <a:spcAft>
                <a:spcPts val="400"/>
              </a:spcAft>
              <a:defRPr sz="950">
                <a:solidFill>
                  <a:srgbClr val="475569"/>
                </a:solidFill>
                <a:latin typeface="Arial"/>
              </a:defRPr>
            </a:pPr>
            <a:r>
              <a:t>• Rs.499 / developer / month.</a:t>
            </a:r>
          </a:p>
          <a:p>
            <a:pPr>
              <a:spcAft>
                <a:spcPts val="400"/>
              </a:spcAft>
              <a:defRPr sz="950">
                <a:solidFill>
                  <a:srgbClr val="475569"/>
                </a:solidFill>
                <a:latin typeface="Arial"/>
              </a:defRPr>
            </a:pPr>
            <a:r>
              <a:t>• Team AI Privacy Gateway for VS Code, Cursor, and internal LLM scripts.</a:t>
            </a:r>
          </a:p>
          <a:p>
            <a:pPr>
              <a:spcAft>
                <a:spcPts val="400"/>
              </a:spcAft>
              <a:defRPr sz="950">
                <a:solidFill>
                  <a:srgbClr val="475569"/>
                </a:solidFill>
                <a:latin typeface="Arial"/>
              </a:defRPr>
            </a:pPr>
            <a:r>
              <a:t>• Prevents accidental corporate IP and customer PII exfiltration into cloud AI.</a:t>
            </a:r>
          </a:p>
        </p:txBody>
      </p:sp>
      <p:sp>
        <p:nvSpPr>
          <p:cNvPr id="9" name="Rounded Rectangle 8"/>
          <p:cNvSpPr/>
          <p:nvPr/>
        </p:nvSpPr>
        <p:spPr>
          <a:xfrm>
            <a:off x="8028432" y="1417320"/>
            <a:ext cx="3429000" cy="21945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65592" y="1554480"/>
            <a:ext cx="3154680" cy="1920240"/>
          </a:xfrm>
          <a:prstGeom prst="rect">
            <a:avLst/>
          </a:prstGeom>
          <a:noFill/>
        </p:spPr>
        <p:txBody>
          <a:bodyPr wrap="square">
            <a:spAutoFit/>
          </a:bodyPr>
          <a:lstStyle/>
          <a:p>
            <a:pPr>
              <a:spcAft>
                <a:spcPts val="600"/>
              </a:spcAft>
              <a:defRPr sz="1150" b="1">
                <a:solidFill>
                  <a:srgbClr val="059669"/>
                </a:solidFill>
                <a:latin typeface="Arial"/>
              </a:defRPr>
            </a:pPr>
            <a:r>
              <a:t>3. Competitive Differentiation</a:t>
            </a:r>
          </a:p>
          <a:p>
            <a:pPr>
              <a:spcAft>
                <a:spcPts val="400"/>
              </a:spcAft>
              <a:defRPr sz="950">
                <a:solidFill>
                  <a:srgbClr val="475569"/>
                </a:solidFill>
                <a:latin typeface="Arial"/>
              </a:defRPr>
            </a:pPr>
            <a:r>
              <a:t>• vs. Microsoft Purview / Nightfall: Local-first architecture (zero cloud telemetry).</a:t>
            </a:r>
          </a:p>
          <a:p>
            <a:pPr>
              <a:spcAft>
                <a:spcPts val="400"/>
              </a:spcAft>
              <a:defRPr sz="950">
                <a:solidFill>
                  <a:srgbClr val="475569"/>
                </a:solidFill>
                <a:latin typeface="Arial"/>
              </a:defRPr>
            </a:pPr>
            <a:r>
              <a:t>• vs. US Tools (DeleteMe/Incogni): Tailored specifically for Indian DPDP Act &amp; Indian PII.</a:t>
            </a:r>
          </a:p>
          <a:p>
            <a:pPr>
              <a:spcAft>
                <a:spcPts val="400"/>
              </a:spcAft>
              <a:defRPr sz="950">
                <a:solidFill>
                  <a:srgbClr val="475569"/>
                </a:solidFill>
                <a:latin typeface="Arial"/>
              </a:defRPr>
            </a:pPr>
            <a:r>
              <a:t>• Transparent in-flight re-hydration.</a:t>
            </a:r>
          </a:p>
        </p:txBody>
      </p:sp>
      <p:sp>
        <p:nvSpPr>
          <p:cNvPr id="11" name="Rounded Rectangle 10"/>
          <p:cNvSpPr/>
          <p:nvPr/>
        </p:nvSpPr>
        <p:spPr>
          <a:xfrm>
            <a:off x="731520" y="3794760"/>
            <a:ext cx="10728655" cy="2560320"/>
          </a:xfrm>
          <a:prstGeom prst="roundRect">
            <a:avLst/>
          </a:prstGeom>
          <a:solidFill>
            <a:srgbClr val="F1F5F9"/>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959352"/>
            <a:ext cx="10271455" cy="2231136"/>
          </a:xfrm>
          <a:prstGeom prst="rect">
            <a:avLst/>
          </a:prstGeom>
          <a:noFill/>
        </p:spPr>
        <p:txBody>
          <a:bodyPr wrap="square">
            <a:spAutoFit/>
          </a:bodyPr>
          <a:lstStyle/>
          <a:p>
            <a:pPr>
              <a:spcAft>
                <a:spcPts val="600"/>
              </a:spcAft>
              <a:defRPr sz="1200" b="1">
                <a:solidFill>
                  <a:srgbClr val="1D4ED8"/>
                </a:solidFill>
                <a:latin typeface="Arial"/>
              </a:defRPr>
            </a:pPr>
            <a:r>
              <a:t>UNIT ECONOMICS &amp; MARKET VALIDATION STRATEGY</a:t>
            </a:r>
          </a:p>
          <a:p>
            <a:pPr>
              <a:spcAft>
                <a:spcPts val="400"/>
              </a:spcAft>
              <a:defRPr sz="1000">
                <a:solidFill>
                  <a:srgbClr val="475569"/>
                </a:solidFill>
                <a:latin typeface="Arial"/>
              </a:defRPr>
            </a:pPr>
            <a:r>
              <a:t>• Edge-First Cost Structure: Regex, Verhoeff, and local proxy run on local CPU (Rs.0 compute cost). Estimated cloud API cost is ~Rs.20-Rs.30/user/month for notice drafting.</a:t>
            </a:r>
          </a:p>
          <a:p>
            <a:pPr>
              <a:spcAft>
                <a:spcPts val="400"/>
              </a:spcAft>
              <a:defRPr sz="1000">
                <a:solidFill>
                  <a:srgbClr val="475569"/>
                </a:solidFill>
                <a:latin typeface="Arial"/>
              </a:defRPr>
            </a:pPr>
            <a:r>
              <a:t>• Market Drivers: Companies fear non-compliance fines under DPDP Act (up to Rs.250 Cr for failing to maintain security safeguards against breaches).</a:t>
            </a:r>
          </a:p>
          <a:p>
            <a:pPr>
              <a:spcAft>
                <a:spcPts val="400"/>
              </a:spcAft>
              <a:defRPr sz="1000">
                <a:solidFill>
                  <a:srgbClr val="475569"/>
                </a:solidFill>
                <a:latin typeface="Arial"/>
              </a:defRPr>
            </a:pPr>
            <a:r>
              <a:t>• Target Customers: Indian tech teams, fintech developers, and knowledge workers using generative AI daily.</a:t>
            </a:r>
          </a:p>
          <a:p>
            <a:pPr>
              <a:spcAft>
                <a:spcPts val="400"/>
              </a:spcAft>
              <a:defRPr sz="1000">
                <a:solidFill>
                  <a:srgbClr val="475569"/>
                </a:solidFill>
                <a:latin typeface="Arial"/>
              </a:defRPr>
            </a:pPr>
            <a:r>
              <a:t>• Go-To-Market Validation Plan: Launch open-source developer proxy with waitlist for enterprise team management; validate with 10 pilot developer teams in Year 1.</a:t>
            </a:r>
          </a:p>
          <a:p>
            <a:pPr>
              <a:spcAft>
                <a:spcPts val="400"/>
              </a:spcAft>
              <a:defRPr sz="1000">
                <a:solidFill>
                  <a:srgbClr val="475569"/>
                </a:solidFill>
                <a:latin typeface="Arial"/>
              </a:defRPr>
            </a:pPr>
            <a:r>
              <a:t>• Clear Limitations Disclosed: Scoped to text-based AI prompt streams; mobile apps and encrypted binary uploads acknowledged on future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